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5"/>
    <p:sldMasterId id="214748365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  <p:embeddedFont>
      <p:font typeface="Encode Sans Black"/>
      <p:bold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128F55-8994-46C6-B9DD-6B0127695F61}">
  <a:tblStyle styleId="{F3128F55-8994-46C6-B9DD-6B0127695F6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8114C4F-E32F-4569-AA60-DDAC48D4BDA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22" Type="http://schemas.openxmlformats.org/officeDocument/2006/relationships/font" Target="fonts/RobotoMono-italic.fntdata"/><Relationship Id="rId21" Type="http://schemas.openxmlformats.org/officeDocument/2006/relationships/font" Target="fonts/RobotoMono-bold.fntdata"/><Relationship Id="rId24" Type="http://schemas.openxmlformats.org/officeDocument/2006/relationships/font" Target="fonts/EncodeSansBlack-bold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James</a:t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33703fd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James</a:t>
            </a:r>
            <a:endParaRPr/>
          </a:p>
        </p:txBody>
      </p:sp>
      <p:sp>
        <p:nvSpPr>
          <p:cNvPr id="65" name="Google Shape;65;g3a33703fd2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33703fd2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James</a:t>
            </a:r>
            <a:endParaRPr/>
          </a:p>
        </p:txBody>
      </p:sp>
      <p:sp>
        <p:nvSpPr>
          <p:cNvPr id="71" name="Google Shape;71;g3a33703fd2b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33703fd2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James</a:t>
            </a:r>
            <a:endParaRPr/>
          </a:p>
        </p:txBody>
      </p:sp>
      <p:sp>
        <p:nvSpPr>
          <p:cNvPr id="77" name="Google Shape;77;g3a33703fd2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33c9b9b4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a33c9b9b4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33c9b9b49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4">
                <a:solidFill>
                  <a:srgbClr val="595959"/>
                </a:solidFill>
              </a:rPr>
              <a:t>All three distance measures agree that in order of increasing distance the phrase pairs are</a:t>
            </a:r>
            <a:endParaRPr sz="2124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24">
                <a:solidFill>
                  <a:srgbClr val="595959"/>
                </a:solidFill>
              </a:rPr>
              <a:t>- "he ran quickly to the store" and "he ran quickly to the store"</a:t>
            </a:r>
            <a:endParaRPr sz="2124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24">
                <a:solidFill>
                  <a:srgbClr val="595959"/>
                </a:solidFill>
              </a:rPr>
              <a:t>- "domestic unrest" and "political instability in the country"</a:t>
            </a:r>
            <a:endParaRPr sz="2124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24">
                <a:solidFill>
                  <a:srgbClr val="595959"/>
                </a:solidFill>
              </a:rPr>
              <a:t>- "the cat sat on the mat" and "a feline rested atop a rug"</a:t>
            </a:r>
            <a:endParaRPr sz="2124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24">
                <a:solidFill>
                  <a:srgbClr val="595959"/>
                </a:solidFill>
              </a:rPr>
              <a:t>- "turn left at the traffic light" and "photosynthesis occurs in plant cells"</a:t>
            </a:r>
            <a:endParaRPr sz="2124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24">
                <a:solidFill>
                  <a:srgbClr val="595959"/>
                </a:solidFill>
              </a:rPr>
              <a:t>Ranking these phrase pairs in order of decreasing dot product produces the same results.</a:t>
            </a:r>
            <a:endParaRPr sz="2124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24">
                <a:solidFill>
                  <a:srgbClr val="595959"/>
                </a:solidFill>
              </a:rPr>
              <a:t>These rankings differ from the reference rankings which rank the cat pair of phrases as more similar than the domestic unrest pair of phrases.</a:t>
            </a:r>
            <a:endParaRPr/>
          </a:p>
        </p:txBody>
      </p:sp>
      <p:sp>
        <p:nvSpPr>
          <p:cNvPr id="91" name="Google Shape;91;g3a33c9b9b49_3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33c9b9b4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24">
                <a:solidFill>
                  <a:srgbClr val="595959"/>
                </a:solidFill>
              </a:rPr>
              <a:t>All three distance measures agree that in order of increasing distance the phrase pairs are</a:t>
            </a:r>
            <a:endParaRPr sz="2124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24">
                <a:solidFill>
                  <a:srgbClr val="595959"/>
                </a:solidFill>
              </a:rPr>
              <a:t>- "he ran quickly to the store" and "he ran quickly to the store"</a:t>
            </a:r>
            <a:endParaRPr sz="2124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24">
                <a:solidFill>
                  <a:srgbClr val="595959"/>
                </a:solidFill>
              </a:rPr>
              <a:t>- "domestic unrest" and "political instability in the country"</a:t>
            </a:r>
            <a:endParaRPr sz="2124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24">
                <a:solidFill>
                  <a:srgbClr val="595959"/>
                </a:solidFill>
              </a:rPr>
              <a:t>- "the cat sat on the mat" and "a feline rested atop a rug"</a:t>
            </a:r>
            <a:endParaRPr sz="2124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24">
                <a:solidFill>
                  <a:srgbClr val="595959"/>
                </a:solidFill>
              </a:rPr>
              <a:t>- "turn left at the traffic light" and "photosynthesis occurs in plant cells"</a:t>
            </a:r>
            <a:endParaRPr sz="2124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24">
                <a:solidFill>
                  <a:srgbClr val="595959"/>
                </a:solidFill>
              </a:rPr>
              <a:t>Ranking these phrase pairs in order of decreasing dot product produces the same results.</a:t>
            </a:r>
            <a:endParaRPr sz="2124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24">
                <a:solidFill>
                  <a:srgbClr val="595959"/>
                </a:solidFill>
              </a:rPr>
              <a:t>These rankings differ from the reference rankings which rank the cat pair of phrases as more similar than the domestic unrest pair of phrases.</a:t>
            </a:r>
            <a:endParaRPr/>
          </a:p>
        </p:txBody>
      </p:sp>
      <p:sp>
        <p:nvSpPr>
          <p:cNvPr id="97" name="Google Shape;97;g3a33c9b9b4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33c9b9b49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a33c9b9b49_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33c9b9b49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a33c9b9b49_2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33c9b9b49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a33c9b9b49_2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33c9b9b49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5"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4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a33c9b9b49_2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Boundless">
  <p:cSld name="2_Title Slide">
    <p:bg>
      <p:bgPr>
        <a:solidFill>
          <a:schemeClr val="dk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W_W Logo_White.png"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598607"/>
            <a:ext cx="2416273" cy="213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" type="body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2" type="body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Open Sans"/>
              <a:buNone/>
              <a:defRPr i="0" sz="2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Open Sans"/>
              <a:buNone/>
              <a:defRPr i="0" sz="28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Open Sans"/>
              <a:buNone/>
              <a:defRPr i="0" sz="24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Open Sans"/>
              <a:buNone/>
              <a:defRPr i="0" sz="20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Open Sans"/>
              <a:buNone/>
              <a:defRPr i="0" sz="20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37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447923" y="371510"/>
            <a:ext cx="8197114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UW">
  <p:cSld name="1_Title Slide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W_W Logo_White.png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type="title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W_W Logo_White.png"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>
            <p:ph type="title"/>
          </p:nvPr>
        </p:nvSpPr>
        <p:spPr>
          <a:xfrm>
            <a:off x="447923" y="369733"/>
            <a:ext cx="8197114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381" y="1364403"/>
            <a:ext cx="1103781" cy="96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None/>
              <a:defRPr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Open Sans"/>
              <a:buNone/>
              <a:defRPr i="0" sz="28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Open Sans"/>
              <a:buNone/>
              <a:defRPr i="0" sz="24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Open Sans"/>
              <a:buNone/>
              <a:defRPr i="0" sz="20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Open Sans"/>
              <a:buNone/>
              <a:defRPr i="0" sz="20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33" name="Google Shape;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5041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>
            <p:ph type="title"/>
          </p:nvPr>
        </p:nvSpPr>
        <p:spPr>
          <a:xfrm>
            <a:off x="447922" y="369285"/>
            <a:ext cx="8197109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Boundless">
  <p:cSld name="1_Title Slid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599009"/>
            <a:ext cx="2425226" cy="213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 Logo_Purple_2685_HEX.png" id="38" name="Google Shape;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/>
          <p:nvPr>
            <p:ph type="title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UW">
  <p:cSld name="Title Slid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 Logo_Purple_2685_HEX.png" id="42" name="Google Shape;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085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9"/>
          <p:cNvSpPr txBox="1"/>
          <p:nvPr>
            <p:ph type="title"/>
          </p:nvPr>
        </p:nvSpPr>
        <p:spPr>
          <a:xfrm>
            <a:off x="460376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 Logo_Purple_2685_HEX.png" id="47" name="Google Shape;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460375" y="370622"/>
            <a:ext cx="8184662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/>
              <a:t>TopicBench - Using LLM’s for Topic Labeling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447925" y="1570869"/>
            <a:ext cx="3945600" cy="3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erriweather Sans"/>
              <a:buChar char="&gt;"/>
            </a:pPr>
            <a:r>
              <a:rPr b="0" lang="en-US" sz="1634"/>
              <a:t>The goal is to evaluate the semantic similarity between two strings. </a:t>
            </a:r>
            <a:endParaRPr b="0" sz="1634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erriweather Sans"/>
              <a:buChar char="&gt;"/>
            </a:pPr>
            <a:r>
              <a:rPr b="0" lang="en-US" sz="1634"/>
              <a:t>For example, given the strings , we want to determine how similar their meanings are, and represent that similarity as a score between 0 (completely unrelated/orthogonal) and 1 (exactly the same). There are several third-party libraries and tools that can be used to achieve this.</a:t>
            </a:r>
            <a:endParaRPr b="0" sz="1634"/>
          </a:p>
        </p:txBody>
      </p:sp>
      <p:sp>
        <p:nvSpPr>
          <p:cNvPr id="60" name="Google Shape;60;p12"/>
          <p:cNvSpPr txBox="1"/>
          <p:nvPr>
            <p:ph type="title"/>
          </p:nvPr>
        </p:nvSpPr>
        <p:spPr>
          <a:xfrm>
            <a:off x="447922" y="369285"/>
            <a:ext cx="8197109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Background</a:t>
            </a:r>
            <a:endParaRPr/>
          </a:p>
        </p:txBody>
      </p:sp>
      <p:graphicFrame>
        <p:nvGraphicFramePr>
          <p:cNvPr id="61" name="Google Shape;61;p12"/>
          <p:cNvGraphicFramePr/>
          <p:nvPr/>
        </p:nvGraphicFramePr>
        <p:xfrm>
          <a:off x="4891300" y="172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{F3128F55-8994-46C6-B9DD-6B0127695F61}</a:tableStyleId>
              </a:tblPr>
              <a:tblGrid>
                <a:gridCol w="1799425"/>
                <a:gridCol w="2286550"/>
              </a:tblGrid>
              <a:tr h="380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/>
                        <a:t>sent1</a:t>
                      </a:r>
                      <a:endParaRPr b="1" sz="12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/>
                        <a:t>sent2</a:t>
                      </a:r>
                      <a:endParaRPr b="1" sz="12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</a:tr>
              <a:tr h="380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/>
                        <a:t>the cat sat on the mat</a:t>
                      </a:r>
                      <a:endParaRPr b="1" sz="12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/>
                        <a:t>a feline rested atop a rug</a:t>
                      </a:r>
                      <a:endParaRPr sz="12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/>
                        <a:t>he ran quickly to the store</a:t>
                      </a:r>
                      <a:endParaRPr b="1" sz="12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/>
                        <a:t>he ran quickly to the store</a:t>
                      </a:r>
                      <a:endParaRPr sz="12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/>
                        <a:t>domestic unrest</a:t>
                      </a:r>
                      <a:endParaRPr b="1" sz="12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/>
                        <a:t>political instability in the country</a:t>
                      </a:r>
                      <a:endParaRPr sz="12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/>
                        <a:t>turn left at the traffic light</a:t>
                      </a:r>
                      <a:endParaRPr b="1" sz="12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/>
                        <a:t>photosynthesis occurs in plant cells</a:t>
                      </a:r>
                      <a:endParaRPr sz="12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4816275" y="1155325"/>
            <a:ext cx="3945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34"/>
              <a:t>Evaluation toy cases</a:t>
            </a:r>
            <a:endParaRPr sz="1634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Use Case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447925" y="1469575"/>
            <a:ext cx="8536800" cy="31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John is a computational social </a:t>
            </a:r>
            <a:r>
              <a:rPr lang="en-US" sz="1900"/>
              <a:t>scientist</a:t>
            </a:r>
            <a:r>
              <a:rPr lang="en-US" sz="1900"/>
              <a:t>. John wants to analyze large amounts of text for similar topic patterns.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He wants to use a local LLM. John values not sharing data over the cloud as he’s dealing with </a:t>
            </a:r>
            <a:r>
              <a:rPr lang="en-US" sz="1900"/>
              <a:t>sensitive</a:t>
            </a:r>
            <a:r>
              <a:rPr lang="en-US" sz="1900"/>
              <a:t> data.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TopicBench allows John to run topic modeling locally, generate labels with different LLMs, and use sentence-embedding cosine similarity to measure how accurate those labels are.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This helps John choose the best LLM for his research while keeping all data secure.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Technical approaches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47925" y="1678025"/>
            <a:ext cx="8197200" cy="28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erriweather Sans"/>
              <a:buChar char="&gt;"/>
            </a:pPr>
            <a:r>
              <a:rPr lang="en-US" sz="2000"/>
              <a:t>1- Token Overlap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Char char="&gt;"/>
            </a:pPr>
            <a:r>
              <a:rPr lang="en-US" sz="2000"/>
              <a:t>2- Sentence Embeddings with Cosine Similarity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Char char="&gt;"/>
            </a:pPr>
            <a:r>
              <a:rPr lang="en-US" sz="2000"/>
              <a:t>3- Sentence Embeddings with Other Comparisions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Char char="&gt;"/>
            </a:pPr>
            <a:r>
              <a:rPr lang="en-US" sz="2000"/>
              <a:t>4 - LLM as Judge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Token Overlap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47925" y="1524750"/>
            <a:ext cx="8197200" cy="28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Merriweather Sans"/>
              <a:buChar char="&gt;"/>
            </a:pPr>
            <a:r>
              <a:rPr lang="en-US" sz="1900"/>
              <a:t>Libraries Used:</a:t>
            </a:r>
            <a:endParaRPr sz="1900"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NLTK (Natural Language Toolkit)</a:t>
            </a:r>
            <a:endParaRPr sz="1900"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Scikit-learn </a:t>
            </a:r>
            <a:endParaRPr sz="1900"/>
          </a:p>
          <a:p>
            <a:pPr indent="-311150" lvl="0" marL="342900" rtl="0" algn="l">
              <a:spcBef>
                <a:spcPts val="400"/>
              </a:spcBef>
              <a:spcAft>
                <a:spcPts val="0"/>
              </a:spcAft>
              <a:buSzPts val="1900"/>
              <a:buChar char="&gt;"/>
            </a:pPr>
            <a:r>
              <a:rPr lang="en-US" sz="1900"/>
              <a:t>Calculation</a:t>
            </a:r>
            <a:endParaRPr sz="1900"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NLTK -&gt; BLEU Score (Bilingual Evaluation Understudy)</a:t>
            </a:r>
            <a:endParaRPr sz="1900"/>
          </a:p>
          <a:p>
            <a:pPr indent="-222250" lvl="2" marL="1143000" rtl="0" algn="l">
              <a:spcBef>
                <a:spcPts val="400"/>
              </a:spcBef>
              <a:spcAft>
                <a:spcPts val="0"/>
              </a:spcAft>
              <a:buSzPts val="1700"/>
              <a:buChar char="&gt;"/>
            </a:pPr>
            <a:r>
              <a:rPr lang="en-US" sz="1700"/>
              <a:t>Measures</a:t>
            </a:r>
            <a:r>
              <a:rPr lang="en-US" sz="1700"/>
              <a:t> overlap with one sentences and another</a:t>
            </a:r>
            <a:endParaRPr sz="1700"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Scikit-learn -&gt; Jaccard Similarity</a:t>
            </a:r>
            <a:endParaRPr sz="1900"/>
          </a:p>
          <a:p>
            <a:pPr indent="-222250" lvl="2" marL="1143000" rtl="0" algn="l">
              <a:spcBef>
                <a:spcPts val="400"/>
              </a:spcBef>
              <a:spcAft>
                <a:spcPts val="0"/>
              </a:spcAft>
              <a:buSzPts val="1700"/>
              <a:buChar char="&gt;"/>
            </a:pPr>
            <a:r>
              <a:rPr lang="en-US" sz="1700"/>
              <a:t>Compares sets of words in a sentence </a:t>
            </a:r>
            <a:endParaRPr sz="1700"/>
          </a:p>
          <a:p>
            <a:pPr indent="-311150" lvl="0" marL="342900" rtl="0" algn="l">
              <a:spcBef>
                <a:spcPts val="400"/>
              </a:spcBef>
              <a:spcAft>
                <a:spcPts val="0"/>
              </a:spcAft>
              <a:buSzPts val="1900"/>
              <a:buChar char="&gt;"/>
            </a:pPr>
            <a:r>
              <a:rPr lang="en-US" sz="1900"/>
              <a:t>Score Criteria: 0 = No match, 1 = Match</a:t>
            </a:r>
            <a:endParaRPr sz="1900"/>
          </a:p>
        </p:txBody>
      </p:sp>
      <p:graphicFrame>
        <p:nvGraphicFramePr>
          <p:cNvPr id="81" name="Google Shape;81;p15"/>
          <p:cNvGraphicFramePr/>
          <p:nvPr/>
        </p:nvGraphicFramePr>
        <p:xfrm>
          <a:off x="4516775" y="51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{F3128F55-8994-46C6-B9DD-6B0127695F61}</a:tableStyleId>
              </a:tblPr>
              <a:tblGrid>
                <a:gridCol w="1266825"/>
                <a:gridCol w="1609725"/>
                <a:gridCol w="495300"/>
                <a:gridCol w="495300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sent1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sent2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BLEU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Jaccard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the cat sat on the mat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a feline rested atop a rug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0.0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0.0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he ran quickly to the store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he ran quickly to the store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1.0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1.0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domestic unrest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political instability in the country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0.0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0.0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turn left at the traffic light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photosynthesis occurs in plant cells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0.0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0.0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Sentence Embeddings + Cosine Similarity </a:t>
            </a:r>
            <a:endParaRPr/>
          </a:p>
        </p:txBody>
      </p:sp>
      <p:pic>
        <p:nvPicPr>
          <p:cNvPr id="87" name="Google Shape;87;p16" title="Screenshot 2025-11-13 at 11.37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00" y="3060100"/>
            <a:ext cx="8197202" cy="13868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288350" y="1609125"/>
            <a:ext cx="8687100" cy="1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●"/>
            </a:pPr>
            <a:r>
              <a:rPr b="1" lang="en-US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SentenceTransformers</a:t>
            </a:r>
            <a:r>
              <a:rPr b="1" lang="en-US" sz="1500">
                <a:solidFill>
                  <a:schemeClr val="dk1"/>
                </a:solidFill>
              </a:rPr>
              <a:t>:</a:t>
            </a:r>
            <a:r>
              <a:rPr lang="en-US" sz="1500">
                <a:solidFill>
                  <a:srgbClr val="1F2328"/>
                </a:solidFill>
              </a:rPr>
              <a:t> Most popular for generating sentence embeddings using models like </a:t>
            </a:r>
            <a:r>
              <a:rPr lang="en-US" sz="1300">
                <a:solidFill>
                  <a:srgbClr val="1F2328"/>
                </a:solidFill>
                <a:latin typeface="Roboto Mono"/>
                <a:ea typeface="Roboto Mono"/>
                <a:cs typeface="Roboto Mono"/>
                <a:sym typeface="Roboto Mono"/>
              </a:rPr>
              <a:t>BERT</a:t>
            </a:r>
            <a:r>
              <a:rPr lang="en-US" sz="1500">
                <a:solidFill>
                  <a:srgbClr val="1F2328"/>
                </a:solidFill>
              </a:rPr>
              <a:t>, </a:t>
            </a:r>
            <a:r>
              <a:rPr lang="en-US" sz="1300">
                <a:solidFill>
                  <a:srgbClr val="1F2328"/>
                </a:solidFill>
                <a:latin typeface="Roboto Mono"/>
                <a:ea typeface="Roboto Mono"/>
                <a:cs typeface="Roboto Mono"/>
                <a:sym typeface="Roboto Mono"/>
              </a:rPr>
              <a:t>RoBERTa</a:t>
            </a:r>
            <a:r>
              <a:rPr lang="en-US" sz="1500">
                <a:solidFill>
                  <a:srgbClr val="1F2328"/>
                </a:solidFill>
              </a:rPr>
              <a:t>, etc. </a:t>
            </a:r>
            <a:r>
              <a:rPr lang="en-US" sz="1500">
                <a:highlight>
                  <a:srgbClr val="FFFFFF"/>
                </a:highlight>
              </a:rPr>
              <a:t>We used  </a:t>
            </a:r>
            <a:r>
              <a:rPr b="1" i="1" lang="en-US" sz="1500" u="sng">
                <a:highlight>
                  <a:srgbClr val="FFFFFF"/>
                </a:highlight>
              </a:rPr>
              <a:t>'all-MiniLM-L6-v2'</a:t>
            </a:r>
            <a:r>
              <a:rPr lang="en-US" sz="1500">
                <a:highlight>
                  <a:srgbClr val="FFFFFF"/>
                </a:highlight>
              </a:rPr>
              <a:t> encoder is widely used for semantic similarity tasks because it provides a strong trade-off between accuracy and computational efficiency.</a:t>
            </a:r>
            <a:endParaRPr sz="1500">
              <a:solidFill>
                <a:srgbClr val="1F2328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●"/>
            </a:pPr>
            <a:r>
              <a:rPr lang="en-US" sz="1300">
                <a:solidFill>
                  <a:srgbClr val="1F2328"/>
                </a:solidFill>
                <a:latin typeface="Roboto Mono"/>
                <a:ea typeface="Roboto Mono"/>
                <a:cs typeface="Roboto Mono"/>
                <a:sym typeface="Roboto Mono"/>
              </a:rPr>
              <a:t>Scikit-learn</a:t>
            </a:r>
            <a:r>
              <a:rPr lang="en-US" sz="1500">
                <a:solidFill>
                  <a:srgbClr val="1F2328"/>
                </a:solidFill>
              </a:rPr>
              <a:t>: Use cosine_similarity from </a:t>
            </a:r>
            <a:r>
              <a:rPr b="1" lang="en-US" sz="1300" u="sng">
                <a:solidFill>
                  <a:srgbClr val="1F2328"/>
                </a:solidFill>
                <a:latin typeface="Roboto Mono"/>
                <a:ea typeface="Roboto Mono"/>
                <a:cs typeface="Roboto Mono"/>
                <a:sym typeface="Roboto Mono"/>
              </a:rPr>
              <a:t>sklearn.metrics.pairwise</a:t>
            </a:r>
            <a:r>
              <a:rPr lang="en-US" sz="1500">
                <a:solidFill>
                  <a:srgbClr val="1F2328"/>
                </a:solidFill>
              </a:rPr>
              <a:t> to compare embeddings.</a:t>
            </a:r>
            <a:endParaRPr sz="1500">
              <a:solidFill>
                <a:srgbClr val="1F2328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2121"/>
              </a:solidFill>
              <a:highlight>
                <a:srgbClr val="F5F5F5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47922" y="361569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 sz="2700"/>
              <a:t>Sentence Embedding + Other Comparisons</a:t>
            </a:r>
            <a:endParaRPr sz="2700"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47925" y="1524750"/>
            <a:ext cx="8197200" cy="28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Merriweather Sans"/>
              <a:buChar char="&gt;"/>
            </a:pPr>
            <a:r>
              <a:rPr lang="en-US" sz="1900"/>
              <a:t>Libraries Used:</a:t>
            </a:r>
            <a:endParaRPr sz="1900"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sentence_transformers</a:t>
            </a:r>
            <a:endParaRPr sz="1900"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scipy</a:t>
            </a:r>
            <a:endParaRPr sz="1900"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torch</a:t>
            </a:r>
            <a:endParaRPr sz="1900"/>
          </a:p>
          <a:p>
            <a:pPr indent="-311150" lvl="0" marL="342900" rtl="0" algn="l">
              <a:spcBef>
                <a:spcPts val="400"/>
              </a:spcBef>
              <a:spcAft>
                <a:spcPts val="0"/>
              </a:spcAft>
              <a:buSzPts val="1900"/>
              <a:buChar char="&gt;"/>
            </a:pPr>
            <a:r>
              <a:rPr lang="en-US" sz="1900"/>
              <a:t>Calculation</a:t>
            </a:r>
            <a:endParaRPr sz="1900"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–"/>
            </a:pPr>
            <a:r>
              <a:rPr lang="en-US" sz="1900">
                <a:solidFill>
                  <a:schemeClr val="dk1"/>
                </a:solidFill>
              </a:rPr>
              <a:t>sentence_transformers</a:t>
            </a:r>
            <a:r>
              <a:rPr lang="en-US" sz="1900"/>
              <a:t> -&gt; embedding</a:t>
            </a:r>
            <a:endParaRPr sz="1700"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scipy.distance </a:t>
            </a:r>
            <a:r>
              <a:rPr lang="en-US" sz="1900"/>
              <a:t>-&gt; Euclidean, Manhattan &amp; angular distance</a:t>
            </a:r>
            <a:endParaRPr sz="1700"/>
          </a:p>
          <a:p>
            <a:pPr indent="-266700" lvl="1" marL="742950" rtl="0" algn="l">
              <a:spcBef>
                <a:spcPts val="400"/>
              </a:spcBef>
              <a:spcAft>
                <a:spcPts val="0"/>
              </a:spcAft>
              <a:buSzPts val="1700"/>
              <a:buChar char="–"/>
            </a:pPr>
            <a:r>
              <a:rPr lang="en-US" sz="1700"/>
              <a:t>torch -&gt; dot product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447922" y="361569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 sz="2700"/>
              <a:t>Sentence Embedding + Other Comparisons </a:t>
            </a:r>
            <a:endParaRPr sz="2700"/>
          </a:p>
        </p:txBody>
      </p:sp>
      <p:sp>
        <p:nvSpPr>
          <p:cNvPr id="100" name="Google Shape;100;p18"/>
          <p:cNvSpPr txBox="1"/>
          <p:nvPr/>
        </p:nvSpPr>
        <p:spPr>
          <a:xfrm>
            <a:off x="604925" y="1355475"/>
            <a:ext cx="3537000" cy="3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5">
              <a:solidFill>
                <a:srgbClr val="00000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4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Rank</a:t>
            </a:r>
            <a:r>
              <a:rPr lang="en-US" sz="1634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ed</a:t>
            </a:r>
            <a:r>
              <a:rPr lang="en-US" sz="1634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by increasing distance (decreasing dot product):</a:t>
            </a:r>
            <a:endParaRPr sz="1634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34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 "he ran quickly to the store" and "he ran quickly to the store"</a:t>
            </a:r>
            <a:endParaRPr sz="1634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34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 "domestic unrest" and "political instability in the country"</a:t>
            </a:r>
            <a:endParaRPr sz="1634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34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 "the cat sat on the mat" and "a feline rested atop a rug"</a:t>
            </a:r>
            <a:endParaRPr sz="1634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34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 "turn left at the traffic light" and "photosynthesis occurs in plant cells"</a:t>
            </a:r>
            <a:endParaRPr sz="1634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550">
              <a:solidFill>
                <a:srgbClr val="595959"/>
              </a:solidFill>
            </a:endParaRPr>
          </a:p>
        </p:txBody>
      </p:sp>
      <p:graphicFrame>
        <p:nvGraphicFramePr>
          <p:cNvPr id="101" name="Google Shape;101;p18"/>
          <p:cNvGraphicFramePr/>
          <p:nvPr/>
        </p:nvGraphicFramePr>
        <p:xfrm>
          <a:off x="4195150" y="157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{58114C4F-E32F-4569-AA60-DDAC48D4BDA1}</a:tableStyleId>
              </a:tblPr>
              <a:tblGrid>
                <a:gridCol w="989250"/>
                <a:gridCol w="989250"/>
                <a:gridCol w="989250"/>
                <a:gridCol w="989250"/>
              </a:tblGrid>
              <a:tr h="622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Euclidean distance</a:t>
                      </a:r>
                      <a:endParaRPr b="1"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Manhattan distance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Dot product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Angular distance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0.0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1.0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89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0.842431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13.078042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0.645155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0.276793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8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0.935487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14.680565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0.562432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0.309866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8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1.41078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22.018671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0.00485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0.498456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LLM as Judge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47925" y="1524750"/>
            <a:ext cx="3559800" cy="3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erriweather Sans"/>
              <a:buChar char="&gt;"/>
            </a:pPr>
            <a:r>
              <a:rPr lang="en-US" sz="1700"/>
              <a:t>Libraries Used:</a:t>
            </a:r>
            <a:endParaRPr sz="1700"/>
          </a:p>
          <a:p>
            <a:pPr indent="-266700" lvl="1" marL="742950" rtl="0" algn="l">
              <a:spcBef>
                <a:spcPts val="400"/>
              </a:spcBef>
              <a:spcAft>
                <a:spcPts val="0"/>
              </a:spcAft>
              <a:buSzPts val="1700"/>
              <a:buChar char="–"/>
            </a:pPr>
            <a:r>
              <a:rPr lang="en-US" sz="1700"/>
              <a:t>OpenAI, pandas, json, tqdm</a:t>
            </a:r>
            <a:endParaRPr sz="1700"/>
          </a:p>
          <a:p>
            <a:pPr indent="0" lvl="0" marL="74295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298450" lvl="0" marL="342900" rtl="0" algn="l">
              <a:spcBef>
                <a:spcPts val="400"/>
              </a:spcBef>
              <a:spcAft>
                <a:spcPts val="0"/>
              </a:spcAft>
              <a:buSzPts val="1700"/>
              <a:buChar char="&gt;"/>
            </a:pPr>
            <a:r>
              <a:rPr lang="en-US" sz="1700"/>
              <a:t>What it is: </a:t>
            </a:r>
            <a:endParaRPr sz="17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/>
              <a:t>LLM-as-Judge means using a large language model to compare two texts and give a similarity score from 0 to 1. We give the model both strings in a single prompt, along with clear instructions and a rubric. </a:t>
            </a:r>
            <a:endParaRPr b="0" sz="1500"/>
          </a:p>
        </p:txBody>
      </p:sp>
      <p:sp>
        <p:nvSpPr>
          <p:cNvPr id="108" name="Google Shape;108;p19"/>
          <p:cNvSpPr txBox="1"/>
          <p:nvPr/>
        </p:nvSpPr>
        <p:spPr>
          <a:xfrm>
            <a:off x="4065000" y="1108650"/>
            <a:ext cx="50790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The Pros</a:t>
            </a:r>
            <a:r>
              <a:rPr lang="en-US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-US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 has the best semantic understanding among all our options.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-US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 can explain why two texts are similar or different.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-US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 works with API models or with local models through Ollama.</a:t>
            </a:r>
            <a:br>
              <a:rPr lang="en-US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The Cons</a:t>
            </a:r>
            <a:r>
              <a:rPr lang="en-US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●"/>
            </a:pPr>
            <a:r>
              <a:rPr lang="en-US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 can be slower and more expensive, especially with APIs.</a:t>
            </a:r>
            <a:br>
              <a:rPr lang="en-US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 requires careful prompting and guardrails to stay stable.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●"/>
            </a:pPr>
            <a:r>
              <a:rPr lang="en-US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The score comes from the model’s internal reasoning, so it is partly a black box.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●"/>
            </a:pPr>
            <a:r>
              <a:rPr lang="en-US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If prompts or model versions change, the results can change too.</a:t>
            </a:r>
            <a:endParaRPr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LLM as Judge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447925" y="1524750"/>
            <a:ext cx="7470900" cy="3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/>
              <a:t>Promt we use: </a:t>
            </a:r>
            <a:endParaRPr sz="15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/>
              <a:t>You are an expert semantic similarity judge. Compare the following texts and rate their semantic similarity from 0 (orthogonal) to 1 (exact match). Provide a short reasoning before giving the score.</a:t>
            </a:r>
            <a:endParaRPr b="0" sz="15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/>
              <a:t>Sentence 1: {sent1}</a:t>
            </a:r>
            <a:endParaRPr b="0" sz="15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/>
              <a:t>Sentence 2: {sent2}</a:t>
            </a:r>
            <a:endParaRPr b="0" sz="15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/>
              <a:t>Return your answer in strict JSON format:</a:t>
            </a:r>
            <a:endParaRPr b="0" sz="15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/>
              <a:t>{{</a:t>
            </a:r>
            <a:endParaRPr b="0" sz="15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/>
              <a:t>  "reasoning": "",</a:t>
            </a:r>
            <a:endParaRPr b="0" sz="15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/>
              <a:t>  "similarity_score": </a:t>
            </a:r>
            <a:endParaRPr b="0" sz="15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/>
              <a:t>}}</a:t>
            </a:r>
            <a:endParaRPr b="0" sz="1000">
              <a:solidFill>
                <a:srgbClr val="008000"/>
              </a:solidFill>
              <a:highlight>
                <a:srgbClr val="FEFE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15" name="Google Shape;115;p20"/>
          <p:cNvGraphicFramePr/>
          <p:nvPr/>
        </p:nvGraphicFramePr>
        <p:xfrm>
          <a:off x="5266875" y="28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{F3128F55-8994-46C6-B9DD-6B0127695F61}</a:tableStyleId>
              </a:tblPr>
              <a:tblGrid>
                <a:gridCol w="1337450"/>
                <a:gridCol w="1699450"/>
                <a:gridCol w="522900"/>
              </a:tblGrid>
              <a:tr h="23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sent1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sent2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Score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</a:tr>
              <a:tr h="23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the cat sat on the mat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a feline rested atop a rug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0.9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he ran quickly to the store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he ran quickly to the store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1.0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domestic unrest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political instability in the country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0.75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/>
                        <a:t>turn left at the traffic light</a:t>
                      </a:r>
                      <a:endParaRPr b="1"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photosynthesis occurs in plant cells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/>
                        <a:t>0.0</a:t>
                      </a:r>
                      <a:endParaRPr sz="7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LLM as Judge- Example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72775" y="1503325"/>
            <a:ext cx="8347500" cy="3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/>
              <a:t>Prompt</a:t>
            </a:r>
            <a:r>
              <a:rPr lang="en-US" sz="1500"/>
              <a:t>: </a:t>
            </a:r>
            <a:endParaRPr sz="15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/>
              <a:t>“Compare the following texts and rate their semantic similarity from 0 (orthogonal) to 1 (exact match). Provide a short reasoning before giving the score. Sentence 1: {</a:t>
            </a:r>
            <a:r>
              <a:rPr lang="en-US" sz="1300"/>
              <a:t>the cat sat on the mat</a:t>
            </a:r>
            <a:r>
              <a:rPr b="0" lang="en-US" sz="1300"/>
              <a:t>} Sentence 2: {</a:t>
            </a:r>
            <a:r>
              <a:rPr lang="en-US" sz="1300"/>
              <a:t>a feline rested atop a rug</a:t>
            </a:r>
            <a:r>
              <a:rPr b="0" lang="en-US" sz="1300"/>
              <a:t>} </a:t>
            </a:r>
            <a:endParaRPr b="0" sz="13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/>
              <a:t>Return your answer in strict JSON format: {{ "reasoning": "&lt;short explanation&gt;", "similarity_score": &lt;a number between 0 and 1&gt; }}”</a:t>
            </a:r>
            <a:endParaRPr b="0" sz="13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/>
              <a:t>Results:</a:t>
            </a:r>
            <a:endParaRPr sz="15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/>
              <a:t>{</a:t>
            </a:r>
            <a:endParaRPr b="0" sz="13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/>
              <a:t>  </a:t>
            </a:r>
            <a:r>
              <a:rPr lang="en-US" sz="1300"/>
              <a:t>"reasoning"</a:t>
            </a:r>
            <a:r>
              <a:rPr b="0" lang="en-US" sz="1300"/>
              <a:t>: "Both sentences describe the same event: a cat (feline) resting/sitting on a floor covering (mat/rug). The words differ but are close synonyms, and the structure conveys nearly identical meaning.",</a:t>
            </a:r>
            <a:endParaRPr b="0" sz="13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/>
              <a:t>  </a:t>
            </a:r>
            <a:r>
              <a:rPr lang="en-US" sz="1300"/>
              <a:t>"similarity_score"</a:t>
            </a:r>
            <a:r>
              <a:rPr b="0" lang="en-US" sz="1300"/>
              <a:t>: 0.9</a:t>
            </a:r>
            <a:endParaRPr b="0" sz="13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/>
              <a:t>}</a:t>
            </a:r>
            <a:endParaRPr b="0" sz="13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447925" y="1631900"/>
            <a:ext cx="8197200" cy="3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/>
              <a:t>Use embeddings for easy, high-confidence matches, and reserve LLM-as-Judge for difficult or ambiguous examples.</a:t>
            </a:r>
            <a:endParaRPr b="0" sz="19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chemeClr val="dk1"/>
                </a:solidFill>
              </a:rPr>
              <a:t>Because of these trade-offs, we think we can use LLM-as-Judge mainly for ambiguous cases, while cheaper embedding methods handle the easy ones.</a:t>
            </a:r>
            <a:endParaRPr b="0" sz="19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900"/>
              <a:t>LLM-as -judge is the only method that correctly classifies </a:t>
            </a:r>
            <a:r>
              <a:rPr b="0" lang="en-US" sz="1934">
                <a:solidFill>
                  <a:schemeClr val="dk1"/>
                </a:solidFill>
              </a:rPr>
              <a:t>"the cat sat on the mat" and "a feline rested atop a rug" as more similar than "domestic unrest" and "political instability in the country"</a:t>
            </a:r>
            <a:endParaRPr b="0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W White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W Purple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